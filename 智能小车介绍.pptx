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7" r:id="rId4"/>
    <p:sldId id="262" r:id="rId5"/>
    <p:sldId id="259" r:id="rId6"/>
    <p:sldId id="260" r:id="rId7"/>
    <p:sldId id="268" r:id="rId8"/>
    <p:sldId id="271" r:id="rId9"/>
    <p:sldId id="269" r:id="rId10"/>
    <p:sldId id="270" r:id="rId11"/>
    <p:sldId id="272" r:id="rId12"/>
    <p:sldId id="273" r:id="rId13"/>
    <p:sldId id="274" r:id="rId14"/>
    <p:sldId id="275" r:id="rId15"/>
    <p:sldId id="267" r:id="rId16"/>
    <p:sldId id="261" r:id="rId17"/>
    <p:sldId id="263" r:id="rId18"/>
    <p:sldId id="265" r:id="rId19"/>
    <p:sldId id="26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272" y="48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5T10:22:15.92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0,'3110'0,"-3097"0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5T10:22:29.444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1,'3485'0,"-3475"0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0:22:40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 24575,'0'0'0,"1"0"0,0 0 0,-1 1 0,1-1 0,0 0 0,-1 1 0,1-1 0,-1 0 0,1 1 0,-1-1 0,1 1 0,-1-1 0,1 1 0,-1-1 0,1 1 0,-1-1 0,0 1 0,1 0 0,-1-1 0,0 1 0,1-1 0,-1 1 0,0 0 0,0-1 0,0 1 0,0 0 0,1-1 0,-1 2 0,2 24 0,-2-21 0,5 144 0,-18 192 0,-18-119-1365,28-202-5461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0:22:45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24575,'3'-3'0,"4"-1"0,0 3 0,0 11 0,-2 8 0,-2 11 0,-1 8 0,-1 12 0,0 7 0,-1-1 0,-1-4 0,1-5 0,0-5 0,-1-3 0,1-9-8191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2025/12/15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18" Type="http://schemas.openxmlformats.org/officeDocument/2006/relationships/image" Target="../media/image1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12" Type="http://schemas.openxmlformats.org/officeDocument/2006/relationships/customXml" Target="../ink/ink2.xml"/><Relationship Id="rId17" Type="http://schemas.openxmlformats.org/officeDocument/2006/relationships/image" Target="../media/image10.png"/><Relationship Id="rId2" Type="http://schemas.openxmlformats.org/officeDocument/2006/relationships/tags" Target="../tags/tag78.xml"/><Relationship Id="rId16" Type="http://schemas.openxmlformats.org/officeDocument/2006/relationships/customXml" Target="../ink/ink4.xml"/><Relationship Id="rId1" Type="http://schemas.openxmlformats.org/officeDocument/2006/relationships/tags" Target="../tags/tag77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5" Type="http://schemas.openxmlformats.org/officeDocument/2006/relationships/image" Target="../media/image9.png"/><Relationship Id="rId10" Type="http://schemas.openxmlformats.org/officeDocument/2006/relationships/customXml" Target="../ink/ink1.xml"/><Relationship Id="rId19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7" Type="http://schemas.openxmlformats.org/officeDocument/2006/relationships/image" Target="../media/image42.png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zh-CN" dirty="0"/>
              <a:t>椰椰杯智能小车设计竞赛</a:t>
            </a:r>
            <a:br>
              <a:rPr lang="en-US" altLang="zh-CN" dirty="0"/>
            </a:br>
            <a:endParaRPr lang="zh-CN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162697-FB5F-B4BA-5895-18977CF0A6F0}"/>
              </a:ext>
            </a:extLst>
          </p:cNvPr>
          <p:cNvSpPr/>
          <p:nvPr/>
        </p:nvSpPr>
        <p:spPr>
          <a:xfrm>
            <a:off x="3040520" y="2561470"/>
            <a:ext cx="61109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基于</a:t>
            </a:r>
            <a:r>
              <a:rPr lang="en-US" altLang="zh-CN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Arduino</a:t>
            </a:r>
            <a:r>
              <a:rPr lang="zh-CN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的智能小车项目介绍</a:t>
            </a:r>
            <a:endParaRPr lang="zh-CN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5F5427-C16E-4B46-4E3B-4748D7AD153E}"/>
              </a:ext>
            </a:extLst>
          </p:cNvPr>
          <p:cNvSpPr txBox="1"/>
          <p:nvPr/>
        </p:nvSpPr>
        <p:spPr>
          <a:xfrm>
            <a:off x="2767263" y="3194384"/>
            <a:ext cx="7255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</a:t>
            </a:r>
            <a:r>
              <a:rPr lang="en-US" altLang="zh-CN" dirty="0" err="1">
                <a:solidFill>
                  <a:srgbClr val="FF0000"/>
                </a:solidFill>
              </a:rPr>
              <a:t>Openmv</a:t>
            </a:r>
            <a:r>
              <a:rPr lang="zh-CN" altLang="en-US" dirty="0"/>
              <a:t>作为视觉模块，采用</a:t>
            </a:r>
            <a:r>
              <a:rPr lang="zh-CN" altLang="en-US" dirty="0">
                <a:solidFill>
                  <a:srgbClr val="FF0000"/>
                </a:solidFill>
              </a:rPr>
              <a:t>霍尔编码器</a:t>
            </a:r>
            <a:r>
              <a:rPr lang="zh-CN" altLang="en-US" dirty="0"/>
              <a:t>监视速度，采取</a:t>
            </a:r>
            <a:r>
              <a:rPr lang="en-US" altLang="zh-CN" dirty="0">
                <a:solidFill>
                  <a:srgbClr val="FF0000"/>
                </a:solidFill>
              </a:rPr>
              <a:t>PID</a:t>
            </a:r>
            <a:r>
              <a:rPr lang="zh-CN" altLang="en-US" dirty="0"/>
              <a:t>算法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核心需求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小车垂直投影必须始终处于赛道区域之内</a:t>
            </a:r>
            <a:r>
              <a:rPr lang="en-US" altLang="zh-CN" dirty="0"/>
              <a:t>————</a:t>
            </a:r>
            <a:r>
              <a:rPr lang="zh-CN" altLang="en-US" sz="1200" dirty="0"/>
              <a:t>传感器的测量距离范围尽量要大一点，要比小车宽度大</a:t>
            </a:r>
          </a:p>
          <a:p>
            <a:pPr algn="l">
              <a:buClrTx/>
              <a:buSzTx/>
            </a:pPr>
            <a:r>
              <a:rPr lang="zh-CN" altLang="en-US" dirty="0"/>
              <a:t>一圈的总时长不得超过</a:t>
            </a:r>
            <a:r>
              <a:rPr lang="en-US" altLang="zh-CN" dirty="0"/>
              <a:t> 10 </a:t>
            </a:r>
            <a:r>
              <a:rPr lang="zh-CN" altLang="en-US" dirty="0"/>
              <a:t>分钟</a:t>
            </a:r>
            <a:r>
              <a:rPr lang="en-US" altLang="zh-CN" dirty="0"/>
              <a:t>————————</a:t>
            </a:r>
            <a:r>
              <a:rPr lang="zh-CN" altLang="en-US" sz="1200" dirty="0"/>
              <a:t>速度尽量加快，同时尽可能消除电机之间差异，保持转速一致</a:t>
            </a:r>
          </a:p>
          <a:p>
            <a:r>
              <a:rPr lang="zh-CN" altLang="en-US" dirty="0"/>
              <a:t>垂直投影尽量不与跑道标识发生接触</a:t>
            </a:r>
            <a:r>
              <a:rPr lang="en-US" altLang="zh-CN" dirty="0"/>
              <a:t>——————</a:t>
            </a:r>
            <a:r>
              <a:rPr lang="zh-CN" altLang="en-US" sz="1200" dirty="0"/>
              <a:t>传统红外传感器由于视野距离短可能难以实现</a:t>
            </a:r>
          </a:p>
          <a:p>
            <a:r>
              <a:rPr lang="zh-CN" altLang="en-US" dirty="0"/>
              <a:t>小车尺寸限制为长不超过</a:t>
            </a:r>
            <a:r>
              <a:rPr lang="en-US" altLang="zh-CN" dirty="0"/>
              <a:t>30cm</a:t>
            </a:r>
            <a:r>
              <a:rPr lang="zh-CN" altLang="en-US" dirty="0"/>
              <a:t>，宽不超过</a:t>
            </a:r>
            <a:r>
              <a:rPr lang="en-US" altLang="zh-CN" dirty="0"/>
              <a:t>20cm</a:t>
            </a:r>
            <a:r>
              <a:rPr lang="zh-CN" altLang="en-US" dirty="0"/>
              <a:t>，高不超过</a:t>
            </a:r>
            <a:r>
              <a:rPr lang="en-US" altLang="zh-CN" dirty="0"/>
              <a:t>25cm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系统方案</a:t>
            </a:r>
            <a:r>
              <a:rPr lang="en-US" altLang="zh-CN" dirty="0"/>
              <a:t>-</a:t>
            </a:r>
            <a:r>
              <a:rPr lang="zh-CN" altLang="en-US" dirty="0"/>
              <a:t>硬件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18163" y="1314000"/>
            <a:ext cx="11583600" cy="527134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控制模块：</a:t>
            </a:r>
            <a:r>
              <a:rPr lang="en-US" altLang="zh-CN" dirty="0"/>
              <a:t>Arduino UNO</a:t>
            </a:r>
          </a:p>
          <a:p>
            <a:r>
              <a:rPr lang="zh-CN" altLang="en-US" dirty="0"/>
              <a:t>视觉传感器模块</a:t>
            </a:r>
            <a:r>
              <a:rPr lang="en-US" altLang="zh-CN" dirty="0"/>
              <a:t>:</a:t>
            </a:r>
            <a:r>
              <a:rPr lang="en-US" altLang="zh-CN" dirty="0" err="1"/>
              <a:t>openmv</a:t>
            </a:r>
            <a:r>
              <a:rPr lang="en-US" altLang="zh-CN" dirty="0"/>
              <a:t> H7plus</a:t>
            </a:r>
          </a:p>
          <a:p>
            <a:r>
              <a:rPr lang="zh-CN" altLang="en-US" dirty="0"/>
              <a:t>驱动模块：</a:t>
            </a:r>
            <a:r>
              <a:rPr lang="en-US" altLang="zh-CN" dirty="0"/>
              <a:t>L298N</a:t>
            </a:r>
            <a:r>
              <a:rPr lang="zh-CN" altLang="en-US" dirty="0"/>
              <a:t>驱动模块</a:t>
            </a:r>
            <a:endParaRPr lang="en-US" altLang="zh-CN" dirty="0"/>
          </a:p>
          <a:p>
            <a:r>
              <a:rPr lang="zh-CN" altLang="en-US" dirty="0"/>
              <a:t>测速（以及方向）硬件：霍尔编码器</a:t>
            </a:r>
            <a:endParaRPr lang="en-US" altLang="zh-CN" dirty="0"/>
          </a:p>
          <a:p>
            <a:r>
              <a:rPr lang="zh-CN" altLang="en-US" dirty="0"/>
              <a:t>降压模块：</a:t>
            </a:r>
            <a:r>
              <a:rPr lang="en-US" altLang="zh-CN" dirty="0"/>
              <a:t>LM2596S(DC-DC</a:t>
            </a:r>
            <a:r>
              <a:rPr lang="zh-CN" altLang="en-US" dirty="0"/>
              <a:t>，自带显示屏显示输入输出电压）</a:t>
            </a:r>
            <a:endParaRPr lang="en-US" altLang="zh-CN" dirty="0"/>
          </a:p>
          <a:p>
            <a:r>
              <a:rPr lang="zh-CN" altLang="en-US" dirty="0"/>
              <a:t>电源：</a:t>
            </a:r>
            <a:r>
              <a:rPr lang="en-US" altLang="zh-CN" dirty="0"/>
              <a:t>5V</a:t>
            </a:r>
            <a:r>
              <a:rPr lang="zh-CN" altLang="en-US" dirty="0"/>
              <a:t>充电宝（给</a:t>
            </a:r>
            <a:r>
              <a:rPr lang="en-US" altLang="zh-CN" dirty="0" err="1"/>
              <a:t>openmv</a:t>
            </a:r>
            <a:r>
              <a:rPr lang="zh-CN" altLang="en-US" dirty="0"/>
              <a:t>供电），</a:t>
            </a:r>
            <a:r>
              <a:rPr lang="en-US" altLang="zh-CN" dirty="0"/>
              <a:t>7.4V</a:t>
            </a:r>
            <a:r>
              <a:rPr lang="zh-CN" altLang="en-US" dirty="0"/>
              <a:t>锂电池</a:t>
            </a:r>
          </a:p>
          <a:p>
            <a:r>
              <a:rPr lang="zh-CN" altLang="en-US" dirty="0"/>
              <a:t>电机：</a:t>
            </a:r>
            <a:r>
              <a:rPr lang="en-US" altLang="zh-CN" dirty="0"/>
              <a:t>TT</a:t>
            </a:r>
            <a:r>
              <a:rPr lang="zh-CN" altLang="en-US" dirty="0"/>
              <a:t>电机</a:t>
            </a:r>
          </a:p>
          <a:p>
            <a:endParaRPr lang="zh-CN" altLang="en-US" dirty="0"/>
          </a:p>
          <a:p>
            <a:r>
              <a:rPr lang="zh-CN" altLang="en-US" dirty="0"/>
              <a:t>理由阐述：</a:t>
            </a:r>
          </a:p>
          <a:p>
            <a:pPr algn="l"/>
            <a:r>
              <a:rPr lang="en-US" altLang="zh-CN" dirty="0"/>
              <a:t>1.openmv</a:t>
            </a:r>
            <a:r>
              <a:rPr lang="zh-CN" altLang="en-US" dirty="0"/>
              <a:t>视野较大，可以有效捕捉到跑道的黑线从而判断直行</a:t>
            </a:r>
            <a:r>
              <a:rPr lang="en-US" altLang="zh-CN" dirty="0"/>
              <a:t>/</a:t>
            </a:r>
            <a:r>
              <a:rPr lang="zh-CN" altLang="en-US" dirty="0"/>
              <a:t>转弯</a:t>
            </a:r>
          </a:p>
          <a:p>
            <a:pPr marL="0" indent="0" algn="l">
              <a:buNone/>
            </a:pPr>
            <a:r>
              <a:rPr lang="en-US" altLang="zh-CN" dirty="0"/>
              <a:t>   2.Arduino uno</a:t>
            </a:r>
            <a:r>
              <a:rPr lang="zh-CN" altLang="en-US" dirty="0"/>
              <a:t>开发板：</a:t>
            </a:r>
            <a:r>
              <a:rPr lang="en-US" altLang="zh-CN" dirty="0" err="1"/>
              <a:t>arduino</a:t>
            </a:r>
            <a:r>
              <a:rPr lang="zh-CN" altLang="en-US" dirty="0"/>
              <a:t>简单易上手，学习成本低</a:t>
            </a:r>
            <a:endParaRPr lang="en-US" altLang="zh-CN" dirty="0"/>
          </a:p>
          <a:p>
            <a:pPr marL="0" indent="0" algn="l">
              <a:buNone/>
            </a:pPr>
            <a:r>
              <a:rPr lang="en-US" altLang="zh-CN" dirty="0"/>
              <a:t>   3.</a:t>
            </a:r>
            <a:r>
              <a:rPr lang="zh-CN" altLang="en-US" dirty="0"/>
              <a:t>霍尔编码器可通过代码实现返回当前实际速度相关的量，使得可以监视当前速度，便于调试与使用</a:t>
            </a:r>
            <a:r>
              <a:rPr lang="en-US" altLang="zh-CN" dirty="0" err="1"/>
              <a:t>pid</a:t>
            </a:r>
            <a:r>
              <a:rPr lang="zh-CN" altLang="en-US" dirty="0"/>
              <a:t>算法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系统方案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核心运行逻辑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70037" y="846710"/>
            <a:ext cx="10969200" cy="4759200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由视觉模块</a:t>
            </a:r>
            <a:r>
              <a:rPr lang="en-US" altLang="zh-CN" dirty="0" err="1">
                <a:sym typeface="+mn-ea"/>
              </a:rPr>
              <a:t>openmv</a:t>
            </a:r>
            <a:r>
              <a:rPr lang="zh-CN" altLang="en-US" dirty="0">
                <a:sym typeface="+mn-ea"/>
              </a:rPr>
              <a:t>捕捉拍摄画面中的黑色黑线，并在图中指定区域找出两条黑线的中心点，并根据该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中心点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 偏离画面中心的量发送不同程度的转弯信号给</a:t>
            </a:r>
            <a:r>
              <a:rPr lang="en-US" altLang="zh-CN" dirty="0" err="1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。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打开开关后，</a:t>
            </a:r>
            <a:r>
              <a:rPr lang="en-US" altLang="zh-CN" dirty="0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接收到来自视觉模块的信息，并分析信息，驱动电机达到要求速度。如</a:t>
            </a:r>
            <a:r>
              <a:rPr lang="en-US" altLang="zh-CN" dirty="0" err="1">
                <a:sym typeface="+mn-ea"/>
              </a:rPr>
              <a:t>openmv</a:t>
            </a:r>
            <a:r>
              <a:rPr lang="zh-CN" altLang="en-US" dirty="0">
                <a:sym typeface="+mn-ea"/>
              </a:rPr>
              <a:t>发送左转信号则令右轮速度大于左轮等。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其中，</a:t>
            </a:r>
            <a:r>
              <a:rPr lang="en-US" altLang="zh-CN" dirty="0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通过霍尔编码器来监视实际速度，以便控制速度大小（具体控制方法依靠</a:t>
            </a:r>
            <a:r>
              <a:rPr lang="en-US" altLang="zh-CN" dirty="0" err="1">
                <a:sym typeface="+mn-ea"/>
              </a:rPr>
              <a:t>pid</a:t>
            </a:r>
            <a:r>
              <a:rPr lang="zh-CN" altLang="en-US" dirty="0">
                <a:sym typeface="+mn-ea"/>
              </a:rPr>
              <a:t>算法）</a:t>
            </a:r>
            <a:endParaRPr lang="en-US" altLang="zh-CN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理论分析（方案可行性）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由于赛道是以黑色色块为标识，而以白色为底，易于区分，在</a:t>
            </a:r>
            <a:r>
              <a:rPr lang="en-US" altLang="zh-CN" dirty="0" err="1"/>
              <a:t>openmv</a:t>
            </a:r>
            <a:r>
              <a:rPr lang="zh-CN" altLang="en-US" dirty="0"/>
              <a:t>代码中通过设定合适的阈值可很好的分辨出黑线，并提取黑色色块，由此计算出画面内黑线的中点</a:t>
            </a:r>
          </a:p>
          <a:p>
            <a:r>
              <a:rPr lang="zh-CN" altLang="en-US" dirty="0"/>
              <a:t>由前方赛道的中点（即计算出来的中点），与拍摄画面中心（理解为小车位置）的横坐标差值，得到大致小车行进方向上的偏差，并设定几个范围，当偏移不同程度，发出不同程度的转弯信号</a:t>
            </a:r>
          </a:p>
          <a:p>
            <a:r>
              <a:rPr lang="en-US" altLang="zh-CN" dirty="0"/>
              <a:t>Arduino</a:t>
            </a:r>
            <a:r>
              <a:rPr lang="zh-CN" altLang="en-US" dirty="0"/>
              <a:t>持续接受信号，并在收到需要转弯信号的时候执行转弯动作，从而实现了不碰到边界，在直道内偏移时调整，并且通过调试得到合适的转弯力度也可以在需要转弯时顺利转弯。</a:t>
            </a:r>
          </a:p>
          <a:p>
            <a:r>
              <a:rPr lang="zh-CN" altLang="en-US" dirty="0"/>
              <a:t>不断执行该过程，则理论可行，小车可以自主运行适时直行和转弯，并避免压线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电路连接</a:t>
            </a:r>
          </a:p>
        </p:txBody>
      </p:sp>
      <p:pic>
        <p:nvPicPr>
          <p:cNvPr id="9" name="内容占位符 8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98C7A1F1-7731-7CB7-AE9F-678699D7F7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987" y="2336460"/>
            <a:ext cx="3038365" cy="3763550"/>
          </a:xfrm>
        </p:spPr>
      </p:pic>
      <p:pic>
        <p:nvPicPr>
          <p:cNvPr id="11" name="图片 10" descr="图形用户界面&#10;&#10;AI 生成的内容可能不正确。">
            <a:extLst>
              <a:ext uri="{FF2B5EF4-FFF2-40B4-BE49-F238E27FC236}">
                <a16:creationId xmlns:a16="http://schemas.microsoft.com/office/drawing/2014/main" id="{E61169CF-E4A3-35A2-ADE1-91BD84E71A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293" y="1454569"/>
            <a:ext cx="1995834" cy="1974431"/>
          </a:xfrm>
          <a:prstGeom prst="rect">
            <a:avLst/>
          </a:prstGeom>
        </p:spPr>
      </p:pic>
      <p:pic>
        <p:nvPicPr>
          <p:cNvPr id="13" name="图片 12" descr="圆圈&#10;&#10;AI 生成的内容可能不正确。">
            <a:extLst>
              <a:ext uri="{FF2B5EF4-FFF2-40B4-BE49-F238E27FC236}">
                <a16:creationId xmlns:a16="http://schemas.microsoft.com/office/drawing/2014/main" id="{6E9A0D64-4903-A863-0CB0-C2A295E0A1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793" y="96423"/>
            <a:ext cx="1802877" cy="1524212"/>
          </a:xfrm>
          <a:prstGeom prst="rect">
            <a:avLst/>
          </a:prstGeom>
        </p:spPr>
      </p:pic>
      <p:pic>
        <p:nvPicPr>
          <p:cNvPr id="15" name="图片 1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EA3A15C-1A29-6850-97BC-D6789F8BE19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148" y="1927269"/>
            <a:ext cx="2219717" cy="1242711"/>
          </a:xfrm>
          <a:prstGeom prst="rect">
            <a:avLst/>
          </a:prstGeom>
        </p:spPr>
      </p:pic>
      <p:pic>
        <p:nvPicPr>
          <p:cNvPr id="17" name="图片 16" descr="图片包含 正方形&#10;&#10;AI 生成的内容可能不正确。">
            <a:extLst>
              <a:ext uri="{FF2B5EF4-FFF2-40B4-BE49-F238E27FC236}">
                <a16:creationId xmlns:a16="http://schemas.microsoft.com/office/drawing/2014/main" id="{27D9BAD2-4E92-9DDE-0398-EADC5ECB1E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654" y="4363333"/>
            <a:ext cx="1800690" cy="2154907"/>
          </a:xfrm>
          <a:prstGeom prst="rect">
            <a:avLst/>
          </a:prstGeom>
        </p:spPr>
      </p:pic>
      <p:pic>
        <p:nvPicPr>
          <p:cNvPr id="19" name="图片 18" descr="手机屏幕截图&#10;&#10;AI 生成的内容可能不正确。">
            <a:extLst>
              <a:ext uri="{FF2B5EF4-FFF2-40B4-BE49-F238E27FC236}">
                <a16:creationId xmlns:a16="http://schemas.microsoft.com/office/drawing/2014/main" id="{D0B29CD8-A802-A1BA-5EE8-AAE71A0014F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72" y="2645396"/>
            <a:ext cx="649406" cy="13603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DBB1F655-7965-3F47-BDA9-2AF55ED890B0}"/>
                  </a:ext>
                </a:extLst>
              </p14:cNvPr>
              <p14:cNvContentPartPr/>
              <p14:nvPr/>
            </p14:nvContentPartPr>
            <p14:xfrm>
              <a:off x="800214" y="2681953"/>
              <a:ext cx="1124640" cy="36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DBB1F655-7965-3F47-BDA9-2AF55ED890B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4094" y="2675833"/>
                <a:ext cx="11368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D895BBE4-E356-93BE-DCD3-42954ACE9CF1}"/>
                  </a:ext>
                </a:extLst>
              </p14:cNvPr>
              <p14:cNvContentPartPr/>
              <p14:nvPr/>
            </p14:nvContentPartPr>
            <p14:xfrm>
              <a:off x="613374" y="2507353"/>
              <a:ext cx="12585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D895BBE4-E356-93BE-DCD3-42954ACE9CF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7254" y="2501233"/>
                <a:ext cx="12708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ECAF5A88-286F-1930-58E8-D6CDB7B8CC53}"/>
                  </a:ext>
                </a:extLst>
              </p14:cNvPr>
              <p14:cNvContentPartPr/>
              <p14:nvPr/>
            </p14:nvContentPartPr>
            <p14:xfrm>
              <a:off x="603294" y="2508433"/>
              <a:ext cx="17280" cy="28044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ECAF5A88-286F-1930-58E8-D6CDB7B8CC5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7174" y="2502313"/>
                <a:ext cx="2952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40EFEBD8-3D1C-1B50-1577-78A302C51D43}"/>
                  </a:ext>
                </a:extLst>
              </p14:cNvPr>
              <p14:cNvContentPartPr/>
              <p14:nvPr/>
            </p14:nvContentPartPr>
            <p14:xfrm>
              <a:off x="805974" y="2668273"/>
              <a:ext cx="13320" cy="16560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40EFEBD8-3D1C-1B50-1577-78A302C51D4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9854" y="2662153"/>
                <a:ext cx="25560" cy="177840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图片 24" descr="日历&#10;&#10;AI 生成的内容可能不正确。">
            <a:extLst>
              <a:ext uri="{FF2B5EF4-FFF2-40B4-BE49-F238E27FC236}">
                <a16:creationId xmlns:a16="http://schemas.microsoft.com/office/drawing/2014/main" id="{84BFFC2D-B4C0-3829-2DB2-BC3FCF012E6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275" y="3783249"/>
            <a:ext cx="3730978" cy="2014803"/>
          </a:xfrm>
          <a:prstGeom prst="rect">
            <a:avLst/>
          </a:prstGeom>
        </p:spPr>
      </p:pic>
      <p:pic>
        <p:nvPicPr>
          <p:cNvPr id="27" name="图片 26" descr="圆圈&#10;&#10;AI 生成的内容可能不正确。">
            <a:extLst>
              <a:ext uri="{FF2B5EF4-FFF2-40B4-BE49-F238E27FC236}">
                <a16:creationId xmlns:a16="http://schemas.microsoft.com/office/drawing/2014/main" id="{B1266C2A-03B4-A4D0-B957-45604B4ACF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387" y="96423"/>
            <a:ext cx="1756759" cy="1507139"/>
          </a:xfrm>
          <a:prstGeom prst="rect">
            <a:avLst/>
          </a:prstGeom>
        </p:spPr>
      </p:pic>
      <p:pic>
        <p:nvPicPr>
          <p:cNvPr id="29" name="图片 28" descr="图示, 示意图&#10;&#10;AI 生成的内容可能不正确。">
            <a:extLst>
              <a:ext uri="{FF2B5EF4-FFF2-40B4-BE49-F238E27FC236}">
                <a16:creationId xmlns:a16="http://schemas.microsoft.com/office/drawing/2014/main" id="{D62AB409-8A3C-00E3-2089-21538FC49DF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0" y="0"/>
            <a:ext cx="12131999" cy="6858000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BBA442A6-D479-05F9-DD7E-5D2D7F40975B}"/>
              </a:ext>
            </a:extLst>
          </p:cNvPr>
          <p:cNvSpPr txBox="1"/>
          <p:nvPr/>
        </p:nvSpPr>
        <p:spPr>
          <a:xfrm>
            <a:off x="417569" y="116018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有点复杂，但用颜色区分了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66FAB-4525-2DDA-C36B-0496411B2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程序设计</a:t>
            </a:r>
            <a:r>
              <a:rPr lang="en-US" altLang="zh-CN" dirty="0">
                <a:sym typeface="+mn-ea"/>
              </a:rPr>
              <a:t>-</a:t>
            </a:r>
            <a:r>
              <a:rPr lang="en-US" altLang="zh-CN" dirty="0" err="1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部分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B05C0A-2AD5-A058-5A8B-1F40B669E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在启动开关后的</a:t>
            </a:r>
            <a:r>
              <a:rPr lang="en-US" altLang="zh-CN" dirty="0">
                <a:sym typeface="+mn-ea"/>
              </a:rPr>
              <a:t>50ms</a:t>
            </a:r>
            <a:r>
              <a:rPr lang="zh-CN" altLang="en-US" dirty="0">
                <a:sym typeface="+mn-ea"/>
              </a:rPr>
              <a:t>内，霍尔编码器统计与实际速度</a:t>
            </a:r>
            <a:r>
              <a:rPr lang="en-US" altLang="zh-CN" dirty="0">
                <a:sym typeface="+mn-ea"/>
              </a:rPr>
              <a:t>v</a:t>
            </a:r>
            <a:r>
              <a:rPr lang="zh-CN" altLang="en-US" dirty="0">
                <a:sym typeface="+mn-ea"/>
              </a:rPr>
              <a:t>有关的量</a:t>
            </a:r>
            <a:r>
              <a:rPr lang="en-US" altLang="zh-CN" dirty="0">
                <a:sym typeface="+mn-ea"/>
              </a:rPr>
              <a:t>count</a:t>
            </a:r>
            <a:r>
              <a:rPr lang="zh-CN" altLang="en-US" dirty="0">
                <a:sym typeface="+mn-ea"/>
              </a:rPr>
              <a:t>。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在这</a:t>
            </a:r>
            <a:r>
              <a:rPr lang="en-US" altLang="zh-CN" dirty="0">
                <a:sym typeface="+mn-ea"/>
              </a:rPr>
              <a:t>50ms</a:t>
            </a:r>
            <a:r>
              <a:rPr lang="zh-CN" altLang="en-US" dirty="0">
                <a:sym typeface="+mn-ea"/>
              </a:rPr>
              <a:t>内，由视觉模块</a:t>
            </a:r>
            <a:r>
              <a:rPr lang="en-US" altLang="zh-CN" dirty="0" err="1">
                <a:sym typeface="+mn-ea"/>
              </a:rPr>
              <a:t>openmv</a:t>
            </a:r>
            <a:r>
              <a:rPr lang="zh-CN" altLang="en-US" dirty="0">
                <a:sym typeface="+mn-ea"/>
              </a:rPr>
              <a:t>捕捉拍摄画面中的黑色黑线，并在图中指定区域找出两条黑线的中心点，并根据该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中心点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 偏离画面中心的量发送不同程度的转弯信号</a:t>
            </a:r>
            <a:r>
              <a:rPr lang="en-US" altLang="zh-CN" dirty="0">
                <a:sym typeface="+mn-ea"/>
              </a:rPr>
              <a:t>signal</a:t>
            </a:r>
            <a:r>
              <a:rPr lang="zh-CN" altLang="en-US" dirty="0">
                <a:sym typeface="+mn-ea"/>
              </a:rPr>
              <a:t>给</a:t>
            </a:r>
            <a:r>
              <a:rPr lang="en-US" altLang="zh-CN" dirty="0" err="1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。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在第</a:t>
            </a:r>
            <a:r>
              <a:rPr lang="en-US" altLang="zh-CN" dirty="0">
                <a:sym typeface="+mn-ea"/>
              </a:rPr>
              <a:t>50ms</a:t>
            </a:r>
            <a:r>
              <a:rPr lang="zh-CN" altLang="en-US" dirty="0">
                <a:sym typeface="+mn-ea"/>
              </a:rPr>
              <a:t>时，</a:t>
            </a:r>
            <a:r>
              <a:rPr lang="en-US" altLang="zh-CN" dirty="0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对</a:t>
            </a:r>
            <a:r>
              <a:rPr lang="en-US" altLang="zh-CN" dirty="0">
                <a:sym typeface="+mn-ea"/>
              </a:rPr>
              <a:t>count</a:t>
            </a:r>
            <a:r>
              <a:rPr lang="zh-CN" altLang="en-US" dirty="0">
                <a:sym typeface="+mn-ea"/>
              </a:rPr>
              <a:t>进行计算得到实际速度</a:t>
            </a:r>
            <a:r>
              <a:rPr lang="en-US" altLang="zh-CN" dirty="0">
                <a:sym typeface="+mn-ea"/>
              </a:rPr>
              <a:t>v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同时，</a:t>
            </a:r>
            <a:r>
              <a:rPr lang="en-US" altLang="zh-CN" dirty="0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用</a:t>
            </a:r>
            <a:r>
              <a:rPr lang="en-US" altLang="zh-CN" dirty="0" err="1">
                <a:sym typeface="+mn-ea"/>
              </a:rPr>
              <a:t>op_signal</a:t>
            </a:r>
            <a:r>
              <a:rPr lang="zh-CN" altLang="en-US" dirty="0">
                <a:sym typeface="+mn-ea"/>
              </a:rPr>
              <a:t>接收到来自视觉模块的信息，并分析信息，给出了电机要达到的期望速度</a:t>
            </a:r>
            <a:r>
              <a:rPr lang="en-US" altLang="zh-CN" dirty="0">
                <a:sym typeface="+mn-ea"/>
              </a:rPr>
              <a:t>w</a:t>
            </a:r>
            <a:r>
              <a:rPr lang="zh-CN" altLang="en-US" dirty="0">
                <a:sym typeface="+mn-ea"/>
              </a:rPr>
              <a:t>。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将误差</a:t>
            </a:r>
            <a:r>
              <a:rPr lang="en-US" altLang="zh-CN" dirty="0">
                <a:sym typeface="+mn-ea"/>
              </a:rPr>
              <a:t>error=w-v</a:t>
            </a:r>
            <a:r>
              <a:rPr lang="zh-CN" altLang="en-US" dirty="0">
                <a:sym typeface="+mn-ea"/>
              </a:rPr>
              <a:t>进行</a:t>
            </a:r>
            <a:r>
              <a:rPr lang="en-US" altLang="zh-CN" dirty="0" err="1">
                <a:sym typeface="+mn-ea"/>
              </a:rPr>
              <a:t>pid</a:t>
            </a:r>
            <a:r>
              <a:rPr lang="zh-CN" altLang="en-US" dirty="0">
                <a:sym typeface="+mn-ea"/>
              </a:rPr>
              <a:t>算法</a:t>
            </a:r>
            <a:r>
              <a:rPr lang="en-US" altLang="zh-CN" dirty="0">
                <a:sym typeface="+mn-ea"/>
              </a:rPr>
              <a:t>,</a:t>
            </a:r>
            <a:r>
              <a:rPr lang="zh-CN" altLang="en-US" dirty="0">
                <a:sym typeface="+mn-ea"/>
              </a:rPr>
              <a:t>得出当前需要给电机施加的电压</a:t>
            </a:r>
            <a:r>
              <a:rPr lang="en-US" altLang="zh-CN" dirty="0">
                <a:sym typeface="+mn-ea"/>
              </a:rPr>
              <a:t>V</a:t>
            </a:r>
            <a:r>
              <a:rPr lang="zh-CN" altLang="en-US" dirty="0">
                <a:sym typeface="+mn-ea"/>
              </a:rPr>
              <a:t>，以使实际速度</a:t>
            </a:r>
            <a:r>
              <a:rPr lang="en-US" altLang="zh-CN" dirty="0">
                <a:sym typeface="+mn-ea"/>
              </a:rPr>
              <a:t>v</a:t>
            </a:r>
            <a:r>
              <a:rPr lang="zh-CN" altLang="en-US" dirty="0">
                <a:sym typeface="+mn-ea"/>
              </a:rPr>
              <a:t>达到预期速度</a:t>
            </a:r>
            <a:r>
              <a:rPr lang="en-US" altLang="zh-CN" dirty="0">
                <a:sym typeface="+mn-ea"/>
              </a:rPr>
              <a:t>w</a:t>
            </a:r>
            <a:r>
              <a:rPr lang="zh-CN" altLang="en-US" dirty="0">
                <a:sym typeface="+mn-ea"/>
              </a:rPr>
              <a:t>。</a:t>
            </a:r>
            <a:endParaRPr lang="en-US" altLang="zh-CN" dirty="0">
              <a:sym typeface="+mn-ea"/>
            </a:endParaRPr>
          </a:p>
          <a:p>
            <a:r>
              <a:rPr lang="zh-CN" altLang="en-US" dirty="0"/>
              <a:t>对电机施加完电压后，重复上述过程。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9337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70CCD-AE4F-9CB1-B27E-C35690F1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FD7BC-C5D7-662D-BF98-90B4DFAFD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霍尔编码器测速的原理以及代码实现</a:t>
            </a:r>
          </a:p>
        </p:txBody>
      </p:sp>
      <p:pic>
        <p:nvPicPr>
          <p:cNvPr id="27" name="图片 26" descr="图示&#10;&#10;AI 生成的内容可能不正确。">
            <a:extLst>
              <a:ext uri="{FF2B5EF4-FFF2-40B4-BE49-F238E27FC236}">
                <a16:creationId xmlns:a16="http://schemas.microsoft.com/office/drawing/2014/main" id="{C62D591D-036C-51A7-116E-68165281A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05" y="1494044"/>
            <a:ext cx="5125534" cy="1496183"/>
          </a:xfrm>
          <a:prstGeom prst="rect">
            <a:avLst/>
          </a:prstGeom>
        </p:spPr>
      </p:pic>
      <p:pic>
        <p:nvPicPr>
          <p:cNvPr id="29" name="图片 28" descr="图形用户界面, 文本, 网站&#10;&#10;AI 生成的内容可能不正确。">
            <a:extLst>
              <a:ext uri="{FF2B5EF4-FFF2-40B4-BE49-F238E27FC236}">
                <a16:creationId xmlns:a16="http://schemas.microsoft.com/office/drawing/2014/main" id="{1B113DFB-96A7-7899-A718-8F391ED6F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30" y="3170271"/>
            <a:ext cx="4973085" cy="1133632"/>
          </a:xfrm>
          <a:prstGeom prst="rect">
            <a:avLst/>
          </a:prstGeom>
        </p:spPr>
      </p:pic>
      <p:pic>
        <p:nvPicPr>
          <p:cNvPr id="37" name="图片 3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C0DD5FD-01A6-A938-4EC5-4811464B4D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239" y="3737087"/>
            <a:ext cx="6421296" cy="1519909"/>
          </a:xfrm>
          <a:prstGeom prst="rect">
            <a:avLst/>
          </a:prstGeom>
        </p:spPr>
      </p:pic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CA58AA71-24E5-F946-2F2B-CD57D98852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239" y="1675751"/>
            <a:ext cx="6331994" cy="159877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FAC5A8D-EAD5-45E7-A6B8-AD738D79D604}"/>
              </a:ext>
            </a:extLst>
          </p:cNvPr>
          <p:cNvSpPr txBox="1"/>
          <p:nvPr/>
        </p:nvSpPr>
        <p:spPr>
          <a:xfrm>
            <a:off x="1341521" y="5618747"/>
            <a:ext cx="4326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最后，通过公式将</a:t>
            </a:r>
            <a:r>
              <a:rPr lang="en-US" altLang="zh-CN" dirty="0"/>
              <a:t>count</a:t>
            </a:r>
            <a:r>
              <a:rPr lang="zh-CN" altLang="en-US" dirty="0"/>
              <a:t>转化为设计速度</a:t>
            </a:r>
            <a:r>
              <a:rPr lang="en-US" altLang="zh-CN" dirty="0"/>
              <a:t>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1756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6825D-1474-0A3C-DFEC-340289433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霍尔编码器测速的原理以及代码实现</a:t>
            </a:r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5A69BCC7-B170-282C-39C5-DDABDAD73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400" y="1814756"/>
            <a:ext cx="1066855" cy="27306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D00EF87-BADC-D8CB-ADD5-D0F96A5C1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61" y="3078491"/>
            <a:ext cx="1733792" cy="36200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8ECBB42-C5E4-7B97-49AA-B0662E1C55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61" y="3690319"/>
            <a:ext cx="1619476" cy="32389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34E1AEE1-C723-2348-8E9D-BF7754DEFCA1}"/>
              </a:ext>
            </a:extLst>
          </p:cNvPr>
          <p:cNvSpPr txBox="1"/>
          <p:nvPr/>
        </p:nvSpPr>
        <p:spPr>
          <a:xfrm>
            <a:off x="517359" y="1445424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Setup()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EE8F75-7712-EC0F-E4B8-4DF65C2220A6}"/>
              </a:ext>
            </a:extLst>
          </p:cNvPr>
          <p:cNvSpPr txBox="1"/>
          <p:nvPr/>
        </p:nvSpPr>
        <p:spPr>
          <a:xfrm>
            <a:off x="399979" y="2709159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Loop()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5DD4E3-281B-B4EE-A458-110E7B45824A}"/>
              </a:ext>
            </a:extLst>
          </p:cNvPr>
          <p:cNvSpPr/>
          <p:nvPr/>
        </p:nvSpPr>
        <p:spPr>
          <a:xfrm>
            <a:off x="454961" y="4078705"/>
            <a:ext cx="1825023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在第</a:t>
            </a:r>
            <a:r>
              <a:rPr lang="en-US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50ms</a:t>
            </a:r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运行的程序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5D1C741-B48F-ECD7-6F2B-A6B9EF1A06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61" y="5204983"/>
            <a:ext cx="1171739" cy="362001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1166DF86-AF44-1B15-AB9B-3A935579A70D}"/>
              </a:ext>
            </a:extLst>
          </p:cNvPr>
          <p:cNvSpPr txBox="1"/>
          <p:nvPr/>
        </p:nvSpPr>
        <p:spPr>
          <a:xfrm>
            <a:off x="399979" y="6160168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实现了每隔</a:t>
            </a:r>
            <a:r>
              <a:rPr lang="en-US" altLang="zh-CN" dirty="0"/>
              <a:t>50ms</a:t>
            </a:r>
            <a:endParaRPr lang="zh-CN" altLang="en-US" dirty="0"/>
          </a:p>
        </p:txBody>
      </p:sp>
      <p:pic>
        <p:nvPicPr>
          <p:cNvPr id="33" name="图片 32" descr="截图里有图片&#10;&#10;AI 生成的内容可能不正确。">
            <a:extLst>
              <a:ext uri="{FF2B5EF4-FFF2-40B4-BE49-F238E27FC236}">
                <a16:creationId xmlns:a16="http://schemas.microsoft.com/office/drawing/2014/main" id="{81236160-59A2-69C0-2FB5-9FF37061E3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248" y="1353807"/>
            <a:ext cx="3211504" cy="2317167"/>
          </a:xfrm>
          <a:prstGeom prst="rect">
            <a:avLst/>
          </a:prstGeom>
        </p:spPr>
      </p:pic>
      <p:pic>
        <p:nvPicPr>
          <p:cNvPr id="35" name="图片 34" descr="文本&#10;&#10;AI 生成的内容可能不正确。">
            <a:extLst>
              <a:ext uri="{FF2B5EF4-FFF2-40B4-BE49-F238E27FC236}">
                <a16:creationId xmlns:a16="http://schemas.microsoft.com/office/drawing/2014/main" id="{2FB20886-3591-1F0B-2341-FEA97FF612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131" y="2964191"/>
            <a:ext cx="6321121" cy="3195977"/>
          </a:xfrm>
          <a:prstGeom prst="rect">
            <a:avLst/>
          </a:prstGeom>
        </p:spPr>
      </p:pic>
      <p:pic>
        <p:nvPicPr>
          <p:cNvPr id="39" name="图片 38" descr="文本&#10;&#10;AI 生成的内容可能不正确。">
            <a:extLst>
              <a:ext uri="{FF2B5EF4-FFF2-40B4-BE49-F238E27FC236}">
                <a16:creationId xmlns:a16="http://schemas.microsoft.com/office/drawing/2014/main" id="{F8F0F18C-E738-50C2-0737-9F35796881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131" y="1353807"/>
            <a:ext cx="6263432" cy="140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487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27269-428E-620E-5558-3766EC683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Arduino</a:t>
            </a:r>
            <a:r>
              <a:rPr lang="zh-CN" altLang="en-US" dirty="0"/>
              <a:t>接收</a:t>
            </a:r>
            <a:r>
              <a:rPr lang="en-US" altLang="zh-CN" dirty="0" err="1"/>
              <a:t>openmv</a:t>
            </a:r>
            <a:r>
              <a:rPr lang="zh-CN" altLang="en-US" dirty="0"/>
              <a:t>的信号并分析的实现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05B75A-AEE7-B56B-4E87-EB6179B8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软串口通信</a:t>
            </a:r>
            <a:r>
              <a:rPr lang="en-US" altLang="zh-CN" dirty="0"/>
              <a:t>OpenmvP4</a:t>
            </a:r>
            <a:r>
              <a:rPr lang="en-US" altLang="zh-CN" dirty="0">
                <a:sym typeface="Wingdings" panose="05000000000000000000" pitchFamily="2" charset="2"/>
              </a:rPr>
              <a:t>Arduino D11</a:t>
            </a:r>
            <a:r>
              <a:rPr lang="zh-CN" altLang="en-US" dirty="0">
                <a:sym typeface="Wingdings" panose="05000000000000000000" pitchFamily="2" charset="2"/>
              </a:rPr>
              <a:t>引脚</a:t>
            </a:r>
            <a:r>
              <a:rPr lang="en-US" altLang="zh-CN" dirty="0">
                <a:sym typeface="Wingdings" panose="05000000000000000000" pitchFamily="2" charset="2"/>
              </a:rPr>
              <a:t>(RX)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D0B3E0-FD5C-ACAB-D725-B9C11BDE5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61" y="2011005"/>
            <a:ext cx="3172268" cy="3334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D05A56-187C-C580-3D25-5FCCDE9B1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40" y="2961743"/>
            <a:ext cx="3753374" cy="304843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7ED43945-AD05-9C75-0673-97142B2DEE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3" y="3814912"/>
            <a:ext cx="5336597" cy="923017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94D75442-EC86-0965-A267-D5BAEE3FCAEC}"/>
              </a:ext>
            </a:extLst>
          </p:cNvPr>
          <p:cNvSpPr/>
          <p:nvPr/>
        </p:nvSpPr>
        <p:spPr>
          <a:xfrm>
            <a:off x="5540543" y="2701089"/>
            <a:ext cx="1985210" cy="9324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内存缓冲区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E1FA85-809B-4742-0EEC-0962F67536EA}"/>
              </a:ext>
            </a:extLst>
          </p:cNvPr>
          <p:cNvSpPr/>
          <p:nvPr/>
        </p:nvSpPr>
        <p:spPr>
          <a:xfrm>
            <a:off x="7164805" y="1490400"/>
            <a:ext cx="1726532" cy="9324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Openmv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BD9192-662D-1F41-69A0-E04F93C03F9D}"/>
              </a:ext>
            </a:extLst>
          </p:cNvPr>
          <p:cNvSpPr/>
          <p:nvPr/>
        </p:nvSpPr>
        <p:spPr>
          <a:xfrm>
            <a:off x="7008395" y="4337384"/>
            <a:ext cx="1678405" cy="1155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Arduino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8429BAB-D5EA-D35A-3CCE-51619FEE62DC}"/>
              </a:ext>
            </a:extLst>
          </p:cNvPr>
          <p:cNvCxnSpPr/>
          <p:nvPr/>
        </p:nvCxnSpPr>
        <p:spPr>
          <a:xfrm flipH="1">
            <a:off x="7429500" y="2490537"/>
            <a:ext cx="409074" cy="409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3D18789-3549-9AAF-BFB8-6698EC281153}"/>
              </a:ext>
            </a:extLst>
          </p:cNvPr>
          <p:cNvCxnSpPr/>
          <p:nvPr/>
        </p:nvCxnSpPr>
        <p:spPr>
          <a:xfrm>
            <a:off x="7056521" y="3729789"/>
            <a:ext cx="372979" cy="535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89F6D9C0-DB01-7F01-8031-CAF0917FA4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282" y="3328068"/>
            <a:ext cx="3774478" cy="218252"/>
          </a:xfrm>
          <a:prstGeom prst="rect">
            <a:avLst/>
          </a:prstGeom>
        </p:spPr>
      </p:pic>
      <p:pic>
        <p:nvPicPr>
          <p:cNvPr id="24" name="图片 23" descr="文本&#10;&#10;AI 生成的内容可能不正确。">
            <a:extLst>
              <a:ext uri="{FF2B5EF4-FFF2-40B4-BE49-F238E27FC236}">
                <a16:creationId xmlns:a16="http://schemas.microsoft.com/office/drawing/2014/main" id="{F5CC208D-3045-1AA7-C926-EB88393C55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29" y="4970090"/>
            <a:ext cx="4098996" cy="1588168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D39F9AE6-B4B0-3DD1-5F32-804322C31A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790630"/>
            <a:ext cx="5416828" cy="97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43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FD98A-7CF3-6881-9ABF-0DD766431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Arduino</a:t>
            </a:r>
            <a:r>
              <a:rPr lang="zh-CN" altLang="en-US" dirty="0"/>
              <a:t>接收</a:t>
            </a:r>
            <a:r>
              <a:rPr lang="en-US" altLang="zh-CN" dirty="0" err="1"/>
              <a:t>openmv</a:t>
            </a:r>
            <a:r>
              <a:rPr lang="zh-CN" altLang="en-US" dirty="0"/>
              <a:t>的信号并分析的实现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484F9E5-3DC8-F8A3-733F-C97D51B75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0747" y="1530429"/>
            <a:ext cx="4381725" cy="341647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AE7F0CA-E325-D83E-B295-A1EBA5FDA9BD}"/>
              </a:ext>
            </a:extLst>
          </p:cNvPr>
          <p:cNvSpPr txBox="1"/>
          <p:nvPr/>
        </p:nvSpPr>
        <p:spPr>
          <a:xfrm>
            <a:off x="4932947" y="5269832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得到期望值</a:t>
            </a:r>
            <a:r>
              <a:rPr lang="en-US" altLang="zh-CN" dirty="0"/>
              <a:t>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4354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365EC-63E6-838E-F935-7E03532C3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PID</a:t>
            </a:r>
            <a:r>
              <a:rPr lang="zh-CN" altLang="en-US" dirty="0"/>
              <a:t>算法的代码实现</a:t>
            </a:r>
          </a:p>
        </p:txBody>
      </p:sp>
      <p:pic>
        <p:nvPicPr>
          <p:cNvPr id="5" name="内容占位符 4" descr="文本&#10;&#10;AI 生成的内容可能不正确。">
            <a:extLst>
              <a:ext uri="{FF2B5EF4-FFF2-40B4-BE49-F238E27FC236}">
                <a16:creationId xmlns:a16="http://schemas.microsoft.com/office/drawing/2014/main" id="{050FB0E4-9603-E927-2598-90329D70E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05" y="1314000"/>
            <a:ext cx="4709557" cy="3553843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47B258-1ED8-155F-8C51-C18E88ACF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639" y="1877141"/>
            <a:ext cx="4810796" cy="50489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E59D66A-0C3B-56E4-02CE-2A7EF9ED40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847" y="5430984"/>
            <a:ext cx="7573432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92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D4251-78BE-3006-4BC8-40EA2C1DC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调试结果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A7474CD-584A-8E5D-BFA0-88D105F3D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822" y="1627609"/>
            <a:ext cx="4109060" cy="2548349"/>
          </a:xfrm>
          <a:prstGeom prst="rect">
            <a:avLst/>
          </a:prstGeom>
        </p:spPr>
      </p:pic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5974B40F-C958-442A-2A5C-C32AFE1428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29" y="1544388"/>
            <a:ext cx="4167245" cy="263157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A4F5D34-C2F1-EB30-490D-52AE12BE8ECC}"/>
              </a:ext>
            </a:extLst>
          </p:cNvPr>
          <p:cNvSpPr txBox="1"/>
          <p:nvPr/>
        </p:nvSpPr>
        <p:spPr>
          <a:xfrm>
            <a:off x="5002128" y="4259179"/>
            <a:ext cx="557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一开始一直达不到预期值，后面调了</a:t>
            </a:r>
            <a:r>
              <a:rPr lang="en-US" altLang="zh-CN" dirty="0"/>
              <a:t>Ki</a:t>
            </a:r>
            <a:r>
              <a:rPr lang="zh-CN" altLang="en-US" dirty="0"/>
              <a:t>就可以了</a:t>
            </a:r>
          </a:p>
        </p:txBody>
      </p:sp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8A31BF4C-2B06-138F-FC22-EC336AF09F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256" y="1406998"/>
            <a:ext cx="4659349" cy="285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29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E5DF1-03C1-38FA-D99E-6548D89F9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驱动电机转动的代码实现</a:t>
            </a:r>
          </a:p>
        </p:txBody>
      </p:sp>
      <p:pic>
        <p:nvPicPr>
          <p:cNvPr id="9" name="内容占位符 8" descr="文本&#10;&#10;AI 生成的内容可能不正确。">
            <a:extLst>
              <a:ext uri="{FF2B5EF4-FFF2-40B4-BE49-F238E27FC236}">
                <a16:creationId xmlns:a16="http://schemas.microsoft.com/office/drawing/2014/main" id="{9F7AEDCF-BBEC-E57C-0D67-9128E70D9D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529" y="1490663"/>
            <a:ext cx="7036592" cy="4759325"/>
          </a:xfrm>
        </p:spPr>
      </p:pic>
    </p:spTree>
    <p:extLst>
      <p:ext uri="{BB962C8B-B14F-4D97-AF65-F5344CB8AC3E}">
        <p14:creationId xmlns:p14="http://schemas.microsoft.com/office/powerpoint/2010/main" val="660133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程序设计</a:t>
            </a:r>
            <a:r>
              <a:rPr lang="en-US" altLang="zh-CN" dirty="0">
                <a:sym typeface="+mn-ea"/>
              </a:rPr>
              <a:t>-</a:t>
            </a:r>
            <a:r>
              <a:rPr lang="en-US" altLang="zh-CN" dirty="0" err="1">
                <a:sym typeface="+mn-ea"/>
              </a:rPr>
              <a:t>openmv</a:t>
            </a:r>
            <a:r>
              <a:rPr lang="zh-CN" altLang="en-US" dirty="0">
                <a:sym typeface="+mn-ea"/>
              </a:rPr>
              <a:t>部分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通过</a:t>
            </a:r>
            <a:r>
              <a:rPr lang="en-US" altLang="zh-CN" dirty="0">
                <a:sym typeface="+mn-ea"/>
              </a:rPr>
              <a:t>while</a:t>
            </a:r>
            <a:r>
              <a:rPr lang="zh-CN" altLang="en-US" dirty="0">
                <a:sym typeface="+mn-ea"/>
              </a:rPr>
              <a:t>循环不断执行：拍摄图像，在指定区域内提取色块</a:t>
            </a:r>
          </a:p>
          <a:p>
            <a:r>
              <a:rPr lang="zh-CN" altLang="en-US" dirty="0">
                <a:sym typeface="+mn-ea"/>
              </a:rPr>
              <a:t>若有两个色块（来自两条边界）则计算其中点，考虑到由于赛道宽度，可能出现拍摄图像是空白，则默认直行，若偏离，则靠近黑线，当拍到黑线，则会根据中点偏移进行调整，而当只有一条黑线，则根据位置判断左线还是右线，并以边界为另一条线计算</a:t>
            </a:r>
          </a:p>
          <a:p>
            <a:r>
              <a:rPr lang="zh-CN" altLang="en-US" dirty="0">
                <a:sym typeface="+mn-ea"/>
              </a:rPr>
              <a:t>得到中点后，通过判断其横坐标范围，判断现在应该做多大程度的左转或右转，或是直行，每个行为对应一个数值，记录下这个数值</a:t>
            </a:r>
          </a:p>
          <a:p>
            <a:r>
              <a:rPr lang="zh-CN" altLang="en-US" dirty="0">
                <a:sym typeface="+mn-ea"/>
              </a:rPr>
              <a:t>把数值通过软串口发给</a:t>
            </a:r>
            <a:r>
              <a:rPr lang="en-US" altLang="zh-CN" dirty="0" err="1">
                <a:sym typeface="+mn-ea"/>
              </a:rPr>
              <a:t>arduino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循环开始前记录下时间，循环末尾的时间与一开始的时间相减，若超过</a:t>
            </a:r>
            <a:r>
              <a:rPr lang="en-US" altLang="zh-CN" dirty="0">
                <a:sym typeface="+mn-ea"/>
              </a:rPr>
              <a:t>50ms</a:t>
            </a:r>
            <a:r>
              <a:rPr lang="zh-CN" altLang="en-US" dirty="0">
                <a:sym typeface="+mn-ea"/>
              </a:rPr>
              <a:t>（约定执行频率）则继续运行，否则等待到</a:t>
            </a:r>
            <a:r>
              <a:rPr lang="en-US" altLang="zh-CN" dirty="0">
                <a:sym typeface="+mn-ea"/>
              </a:rPr>
              <a:t>50ms</a:t>
            </a:r>
            <a:r>
              <a:rPr lang="zh-CN" altLang="en-US" dirty="0">
                <a:sym typeface="+mn-ea"/>
              </a:rPr>
              <a:t>，保持与</a:t>
            </a:r>
            <a:r>
              <a:rPr lang="en-US" altLang="zh-CN" dirty="0" err="1">
                <a:sym typeface="+mn-ea"/>
              </a:rPr>
              <a:t>arduino</a:t>
            </a:r>
            <a:r>
              <a:rPr lang="zh-CN" altLang="en-US" dirty="0">
                <a:sym typeface="+mn-ea"/>
              </a:rPr>
              <a:t>接受信号一致</a:t>
            </a:r>
          </a:p>
          <a:p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pPr marL="0" indent="0">
              <a:buNone/>
            </a:pPr>
            <a:endParaRPr lang="zh-CN" altLang="en-US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程序设计</a:t>
            </a:r>
            <a:r>
              <a:rPr lang="en-US" altLang="zh-CN" dirty="0">
                <a:sym typeface="+mn-ea"/>
              </a:rPr>
              <a:t>-</a:t>
            </a:r>
            <a:r>
              <a:rPr lang="en-US" altLang="zh-CN" dirty="0" err="1">
                <a:sym typeface="+mn-ea"/>
              </a:rPr>
              <a:t>openmv</a:t>
            </a:r>
            <a:r>
              <a:rPr lang="zh-CN" altLang="en-US" dirty="0">
                <a:sym typeface="+mn-ea"/>
              </a:rPr>
              <a:t>部分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核心部分：</a:t>
            </a:r>
          </a:p>
          <a:p>
            <a:endParaRPr lang="zh-CN" altLang="en-US" dirty="0"/>
          </a:p>
        </p:txBody>
      </p:sp>
      <p:pic>
        <p:nvPicPr>
          <p:cNvPr id="4" name="图片 3" descr="屏幕截图 2025-12-05 1625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80" y="2171065"/>
            <a:ext cx="3867150" cy="2120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7900" y="2171065"/>
            <a:ext cx="6176645" cy="18135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0880" y="4726305"/>
            <a:ext cx="3867785" cy="1315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/>
              <a:t>通过内置函数完成画面中指定区域的色块的提取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866005" y="4709795"/>
            <a:ext cx="60883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400"/>
              <a:t>把提取到的色块按顺序记录下来，并计算中点横坐标，并在图像中标识出来，方便调试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829935" y="608330"/>
            <a:ext cx="5747385" cy="705485"/>
          </a:xfrm>
        </p:spPr>
        <p:txBody>
          <a:bodyPr>
            <a:normAutofit fontScale="90000"/>
          </a:bodyPr>
          <a:lstStyle/>
          <a:p>
            <a:r>
              <a:rPr lang="zh-CN" altLang="en-US" sz="2220"/>
              <a:t>通信部分，把得到的转弯幅度需求转化成约定的数字发送给</a:t>
            </a:r>
            <a:r>
              <a:rPr lang="en-US" altLang="zh-CN" sz="2220"/>
              <a:t>arduino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25120" y="327660"/>
            <a:ext cx="5114925" cy="1190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20" y="4652010"/>
            <a:ext cx="7843520" cy="13328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120" y="2621280"/>
            <a:ext cx="7913370" cy="10725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435975" y="2606040"/>
            <a:ext cx="35483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通过循环内计时，保持循环运行频率即发送信号频率与</a:t>
            </a:r>
            <a:r>
              <a:rPr lang="en-US" altLang="zh-CN"/>
              <a:t>arduino</a:t>
            </a:r>
            <a:r>
              <a:rPr lang="zh-CN" altLang="en-US"/>
              <a:t>接受频率一致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643620" y="4613275"/>
            <a:ext cx="3207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打印得到的数据，便于调试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调试前具体问题与解决方案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 err="1"/>
              <a:t>openmv</a:t>
            </a:r>
            <a:r>
              <a:rPr lang="zh-CN" altLang="en-US" dirty="0"/>
              <a:t>与</a:t>
            </a:r>
            <a:r>
              <a:rPr lang="en-US" altLang="zh-CN" dirty="0" err="1"/>
              <a:t>arduino</a:t>
            </a:r>
            <a:r>
              <a:rPr lang="zh-CN" altLang="en-US" dirty="0"/>
              <a:t>通信过程中，发现</a:t>
            </a:r>
            <a:r>
              <a:rPr lang="en-US" altLang="zh-CN" dirty="0" err="1"/>
              <a:t>arduino</a:t>
            </a:r>
            <a:r>
              <a:rPr lang="zh-CN" altLang="en-US" dirty="0"/>
              <a:t>无法接收到</a:t>
            </a:r>
            <a:r>
              <a:rPr lang="en-US" altLang="zh-CN" dirty="0" err="1"/>
              <a:t>openmv</a:t>
            </a:r>
            <a:r>
              <a:rPr lang="zh-CN" altLang="en-US" dirty="0"/>
              <a:t>信号，通过电脑端监视，发现</a:t>
            </a:r>
            <a:r>
              <a:rPr lang="en-US" altLang="zh-CN" dirty="0" err="1"/>
              <a:t>openmv</a:t>
            </a:r>
            <a:r>
              <a:rPr lang="zh-CN" altLang="en-US" dirty="0"/>
              <a:t>有在发送信号，则考虑收不到信号的原因，此时使用</a:t>
            </a:r>
            <a:r>
              <a:rPr lang="en-US" altLang="zh-CN" dirty="0" err="1"/>
              <a:t>arduino</a:t>
            </a:r>
            <a:r>
              <a:rPr lang="zh-CN" altLang="en-US" dirty="0"/>
              <a:t>硬串口通信，无法监视</a:t>
            </a:r>
            <a:r>
              <a:rPr lang="en-US" altLang="zh-CN" dirty="0" err="1"/>
              <a:t>arduino</a:t>
            </a:r>
            <a:r>
              <a:rPr lang="zh-CN" altLang="en-US" dirty="0"/>
              <a:t>接收情况，则改用软串口，可以把硬串口空出来连接电脑方便调试，结果可以发现成功接受到信号，据此推测</a:t>
            </a:r>
            <a:r>
              <a:rPr lang="en-US" altLang="zh-CN" dirty="0" err="1"/>
              <a:t>arduino</a:t>
            </a:r>
            <a:r>
              <a:rPr lang="zh-CN" altLang="en-US" dirty="0"/>
              <a:t>端接收引脚损坏</a:t>
            </a:r>
          </a:p>
          <a:p>
            <a:r>
              <a:rPr lang="zh-CN" altLang="en-US" dirty="0"/>
              <a:t>在制作完成后短暂运行后发现小车变压模块温度异常高，而且本应输出</a:t>
            </a:r>
            <a:r>
              <a:rPr lang="en-US" altLang="zh-CN" dirty="0"/>
              <a:t>5v</a:t>
            </a:r>
            <a:r>
              <a:rPr lang="zh-CN" altLang="en-US" dirty="0"/>
              <a:t>的电压，结果只有</a:t>
            </a:r>
            <a:r>
              <a:rPr lang="en-US" altLang="zh-CN" dirty="0"/>
              <a:t>3.6v</a:t>
            </a:r>
            <a:r>
              <a:rPr lang="zh-CN" altLang="en-US" dirty="0"/>
              <a:t>左右，且电机不转。推测温度异常与该现象有关，则考虑输出负载。发现电源通过变压模块向</a:t>
            </a:r>
            <a:r>
              <a:rPr lang="en-US" altLang="zh-CN" dirty="0"/>
              <a:t>L298N</a:t>
            </a:r>
            <a:r>
              <a:rPr lang="zh-CN" altLang="en-US" dirty="0"/>
              <a:t>，</a:t>
            </a:r>
            <a:r>
              <a:rPr lang="en-US" altLang="zh-CN" dirty="0" err="1"/>
              <a:t>Openmv</a:t>
            </a:r>
            <a:r>
              <a:rPr lang="zh-CN" altLang="en-US" dirty="0"/>
              <a:t>，</a:t>
            </a:r>
            <a:r>
              <a:rPr lang="en-US" altLang="zh-CN" dirty="0"/>
              <a:t>Arduino</a:t>
            </a:r>
            <a:r>
              <a:rPr lang="zh-CN" altLang="en-US" dirty="0"/>
              <a:t>供电，可能造成电流过大，内部保护机制主动限压。后面使用充电宝单独向</a:t>
            </a:r>
            <a:r>
              <a:rPr lang="en-US" altLang="zh-CN" dirty="0" err="1"/>
              <a:t>openmv</a:t>
            </a:r>
            <a:r>
              <a:rPr lang="zh-CN" altLang="en-US" dirty="0"/>
              <a:t>供电，则电压可以稳定在</a:t>
            </a:r>
            <a:r>
              <a:rPr lang="en-US" altLang="zh-CN" dirty="0"/>
              <a:t>5v</a:t>
            </a:r>
            <a:r>
              <a:rPr lang="zh-CN" altLang="en-US" dirty="0"/>
              <a:t>左右，且变压模块在长时间运行下温度正常</a:t>
            </a:r>
          </a:p>
          <a:p>
            <a:r>
              <a:rPr lang="zh-CN" altLang="en-US" dirty="0"/>
              <a:t>试运行时，小车接受到不同信号时均出现左轮正常工作，右轮输出不稳定的情况。经过检查代码，发现由于之前使用了</a:t>
            </a:r>
            <a:r>
              <a:rPr lang="en-US" altLang="zh-CN" dirty="0"/>
              <a:t>Arduino</a:t>
            </a:r>
            <a:r>
              <a:rPr lang="zh-CN" altLang="en-US" dirty="0"/>
              <a:t>板上的</a:t>
            </a:r>
            <a:r>
              <a:rPr lang="en-US" altLang="zh-CN" dirty="0"/>
              <a:t>LED</a:t>
            </a:r>
            <a:r>
              <a:rPr lang="zh-CN" altLang="en-US" dirty="0"/>
              <a:t>（引脚为</a:t>
            </a:r>
            <a:r>
              <a:rPr lang="en-US" altLang="zh-CN" dirty="0"/>
              <a:t>13</a:t>
            </a:r>
            <a:r>
              <a:rPr lang="zh-CN" altLang="en-US" dirty="0"/>
              <a:t>）作为调试信号，而右轮的霍尔编码器的</a:t>
            </a:r>
            <a:r>
              <a:rPr lang="en-US" altLang="zh-CN" dirty="0"/>
              <a:t>B</a:t>
            </a:r>
            <a:r>
              <a:rPr lang="zh-CN" altLang="en-US" dirty="0"/>
              <a:t>相接也在引脚</a:t>
            </a:r>
            <a:r>
              <a:rPr lang="en-US" altLang="zh-CN" dirty="0"/>
              <a:t>13</a:t>
            </a:r>
            <a:r>
              <a:rPr lang="zh-CN" altLang="en-US" dirty="0"/>
              <a:t>处，导致每当</a:t>
            </a:r>
            <a:r>
              <a:rPr lang="en-US" altLang="zh-CN" dirty="0"/>
              <a:t>LED</a:t>
            </a:r>
            <a:r>
              <a:rPr lang="zh-CN" altLang="en-US" dirty="0"/>
              <a:t>工作时，会影响到</a:t>
            </a:r>
            <a:r>
              <a:rPr lang="en-US" altLang="zh-CN" dirty="0"/>
              <a:t>B</a:t>
            </a:r>
            <a:r>
              <a:rPr lang="zh-CN" altLang="en-US" dirty="0"/>
              <a:t>相相连引脚的电压检测，使检测的右轮实际速度错误，最终导致右轮输出不稳定。</a:t>
            </a:r>
            <a:endParaRPr lang="en-US" altLang="zh-CN" dirty="0">
              <a:highlight>
                <a:srgbClr val="FFFF00"/>
              </a:highlight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调试数据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accent1"/>
                </a:solidFill>
              </a:rPr>
              <a:t>前提：在宿舍经过调试，接受到不同信号时，</a:t>
            </a:r>
            <a:r>
              <a:rPr lang="en-US" altLang="zh-CN" dirty="0" err="1">
                <a:solidFill>
                  <a:schemeClr val="accent1"/>
                </a:solidFill>
              </a:rPr>
              <a:t>arduino</a:t>
            </a:r>
            <a:r>
              <a:rPr lang="zh-CN" altLang="en-US" dirty="0">
                <a:solidFill>
                  <a:schemeClr val="accent1"/>
                </a:solidFill>
              </a:rPr>
              <a:t>均能使电机输出预期的转速，</a:t>
            </a:r>
            <a:r>
              <a:rPr lang="en-US" altLang="zh-CN" dirty="0" err="1">
                <a:solidFill>
                  <a:schemeClr val="accent1"/>
                </a:solidFill>
              </a:rPr>
              <a:t>openmv</a:t>
            </a:r>
            <a:r>
              <a:rPr lang="zh-CN" altLang="en-US" dirty="0">
                <a:solidFill>
                  <a:schemeClr val="accent1"/>
                </a:solidFill>
              </a:rPr>
              <a:t>也可以绘制出检测区域黑色色块的中点</a:t>
            </a:r>
          </a:p>
          <a:p>
            <a:pPr marL="0" indent="0">
              <a:buNone/>
            </a:pPr>
            <a:r>
              <a:rPr lang="zh-CN" altLang="en-US" sz="2400" dirty="0"/>
              <a:t>核心调试内容为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转弯时机的判断：通过现场连接电脑，把小车放到不同位置，观察绘制出来的中心点横坐标，结</a:t>
            </a:r>
            <a:r>
              <a:rPr lang="en-US" altLang="zh-CN" dirty="0"/>
              <a:t>   </a:t>
            </a:r>
            <a:r>
              <a:rPr lang="en-US" altLang="zh-CN" dirty="0" err="1">
                <a:solidFill>
                  <a:schemeClr val="bg1"/>
                </a:solidFill>
              </a:rPr>
              <a:t>zzzzzzzzzzzzzzz</a:t>
            </a:r>
            <a:r>
              <a:rPr lang="zh-CN" altLang="en-US" dirty="0"/>
              <a:t>合实际转弯需求，调整原来不同横坐标值对应的信号</a:t>
            </a:r>
          </a:p>
          <a:p>
            <a:r>
              <a:rPr lang="zh-CN" altLang="en-US" dirty="0"/>
              <a:t>转弯轮子转速的输出：当小车接收到转弯信号，如：小右转，则观察此时转大了还是小了，由此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zzzzzzzzzzzzzzzzzzz</a:t>
            </a:r>
            <a:r>
              <a:rPr lang="zh-CN" altLang="en-US" dirty="0"/>
              <a:t>更改小右转时左右轮速度差，来丝滑完成转弯</a:t>
            </a:r>
          </a:p>
          <a:p>
            <a:r>
              <a:rPr lang="zh-CN" altLang="en-US" dirty="0"/>
              <a:t>试运行：让小车在不同起点出发，自行运行，关注不正常前进，转弯与直行判断错误的地方用电</a:t>
            </a:r>
            <a:r>
              <a:rPr lang="en-US" altLang="zh-CN" dirty="0" err="1">
                <a:solidFill>
                  <a:schemeClr val="bg1"/>
                </a:solidFill>
              </a:rPr>
              <a:t>zzzzzzz</a:t>
            </a:r>
            <a:r>
              <a:rPr lang="zh-CN" altLang="en-US" dirty="0"/>
              <a:t>脑监视，观察问题，并对代码进行微调</a:t>
            </a:r>
            <a:r>
              <a:rPr lang="en-US" altLang="zh-CN" dirty="0"/>
              <a:t>(</a:t>
            </a:r>
            <a:r>
              <a:rPr lang="zh-CN" altLang="en-US" dirty="0"/>
              <a:t>如在某处亮度不足的地方发送信号混乱，经检验</a:t>
            </a:r>
            <a:r>
              <a:rPr lang="en-US" altLang="zh-CN" dirty="0" err="1">
                <a:solidFill>
                  <a:schemeClr val="bg1"/>
                </a:solidFill>
                <a:sym typeface="+mn-ea"/>
              </a:rPr>
              <a:t>zzzzzzz</a:t>
            </a:r>
            <a:r>
              <a:rPr lang="zh-CN" altLang="en-US" dirty="0"/>
              <a:t>发现是由于黑色阈值设的太高，把阴影当成色块，降低阈值后解决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1569</Words>
  <Application>Microsoft Office PowerPoint</Application>
  <PresentationFormat>宽屏</PresentationFormat>
  <Paragraphs>85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Arial</vt:lpstr>
      <vt:lpstr>Wingdings</vt:lpstr>
      <vt:lpstr>WPS</vt:lpstr>
      <vt:lpstr>椰椰杯智能小车设计竞赛 </vt:lpstr>
      <vt:lpstr>核心需求</vt:lpstr>
      <vt:lpstr>系统方案-硬件</vt:lpstr>
      <vt:lpstr>系统方案-核心运行逻辑</vt:lpstr>
      <vt:lpstr>理论分析（方案可行性）</vt:lpstr>
      <vt:lpstr>电路连接</vt:lpstr>
      <vt:lpstr>程序设计-arduino部分</vt:lpstr>
      <vt:lpstr>霍尔编码器测速的原理以及代码实现</vt:lpstr>
      <vt:lpstr>霍尔编码器测速的原理以及代码实现</vt:lpstr>
      <vt:lpstr>Arduino接收openmv的信号并分析的实现</vt:lpstr>
      <vt:lpstr>Arduino接收openmv的信号并分析的实现</vt:lpstr>
      <vt:lpstr>PID算法的代码实现</vt:lpstr>
      <vt:lpstr>调试结果</vt:lpstr>
      <vt:lpstr>驱动电机转动的代码实现</vt:lpstr>
      <vt:lpstr>程序设计-openmv部分</vt:lpstr>
      <vt:lpstr>程序设计-openmv部分</vt:lpstr>
      <vt:lpstr>通信部分，把得到的转弯幅度需求转化成约定的数字发送给arduino</vt:lpstr>
      <vt:lpstr>调试前具体问题与解决方案</vt:lpstr>
      <vt:lpstr>调试数据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蔡梓涛</dc:creator>
  <cp:lastModifiedBy>梓涛 蔡</cp:lastModifiedBy>
  <cp:revision>169</cp:revision>
  <dcterms:created xsi:type="dcterms:W3CDTF">2019-06-19T02:08:00Z</dcterms:created>
  <dcterms:modified xsi:type="dcterms:W3CDTF">2025-12-15T08:34:32Z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9F95366C0C4B4DAB96CECE6C05764D6B_11</vt:lpwstr>
  </property>
</Properties>
</file>